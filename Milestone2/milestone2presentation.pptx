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62" r:id="rId4"/>
    <p:sldId id="257" r:id="rId5"/>
    <p:sldId id="258" r:id="rId6"/>
    <p:sldId id="259" r:id="rId7"/>
    <p:sldId id="260" r:id="rId8"/>
    <p:sldId id="261" r:id="rId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6667" autoAdjust="0"/>
  </p:normalViewPr>
  <p:slideViewPr>
    <p:cSldViewPr snapToGrid="0" snapToObjects="1">
      <p:cViewPr varScale="1">
        <p:scale>
          <a:sx n="73" d="100"/>
          <a:sy n="73" d="100"/>
        </p:scale>
        <p:origin x="1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56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Gout is a form of inflammatory arthritis caused by hyperuricemia -- excess uric acid that forms urate crystals in the joints, causing sudden, severe pain and swelling, classically in the big toe. Allopurinol is a xanthine oxidase inhibitor and the standard first-line urate-lowering therapy, taken long-term to prevent flares. This study uses a Milestone 1 structured cohort of 5,664 gout patients and evaluates allopurinol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corrected Table 1 from Milestone 1: baseline characteristics of the full 5,664-patient UCSF gout cohort, split by allopurinol exposure -- 1,915 treated, 3,749 with no recorded allopurinol. Treated patients skewed more male and had higher rates of chronic gout, type 2 diabetes, and chronic kidney disease at baseline. Note this is the full cohort -- the note-based comparison later in the deck uses only the subset of patients with usable clinical notes (4,985), where structured EHR identifies 1,849 as treated.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Milestone 2, clinical notes were extracted in Athena for the structured gout cohort and matched to patients by person_id. From there, demographics were pulled for the note-analysis sample to compare treated vs. non-treated patients across extraction methods. Finally, concept extraction applied a pattern-matching baseline plus three LLMs -- Mistral, Llama, and Qwen -- to identify gout, urate, and allopurinol mentions in the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1 summarizes cohort demographics for the 4,985 patients in the Milestone 2 note-analysis sample, alongside the subset flagged as allopurinol-treated by each extraction method. Across methods, treated groups were demographically similar to one another and to the overall sample -- predominantly male, mean age around 60, with race and ethnicity distributions that did not shift substantially by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each method's patient-level allopurinol flag against the structured EHR reference gives this confusion matrix. Sensitivity was low across all four methods, ranging 39.5% to 49.2% -- meaning over half of structured-treated patients were missed in the sampled notes. Specificity was much higher, 87-92%, so a positive note mention was fairly reliable, but the absence of one was not strong evidence the patient was untreated.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this project found structured EHR data to be more reliable than clinical notes for determining allopurinol treatment status, that conclusion should be taken with caution -- only a small subset of available notes (13,481 of 135,573) was analyzed, capped at 3 notes per patient. A full-note extraction could recover more treatment mentions and change the sensitivity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"/>
            <a:ext cx="12188520" cy="6856214"/>
          </a:xfrm>
          <a:prstGeom prst="rect">
            <a:avLst/>
          </a:prstGeom>
          <a:solidFill>
            <a:srgbClr val="053F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20000">
            <a:off x="8638829" y="92309"/>
            <a:ext cx="2925318" cy="2925318"/>
          </a:xfrm>
          <a:prstGeom prst="arc">
            <a:avLst/>
          </a:prstGeom>
          <a:solidFill>
            <a:srgbClr val="053F3D">
              <a:alpha val="0"/>
            </a:srgbClr>
          </a:solidFill>
          <a:ln w="50800">
            <a:solidFill>
              <a:srgbClr val="00C79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">
            <a:off x="9004494" y="4160329"/>
            <a:ext cx="2376821" cy="2376821"/>
          </a:xfrm>
          <a:prstGeom prst="arc">
            <a:avLst/>
          </a:prstGeom>
          <a:solidFill>
            <a:srgbClr val="053F3D">
              <a:alpha val="0"/>
            </a:srgbClr>
          </a:solidFill>
          <a:ln w="38100">
            <a:solidFill>
              <a:srgbClr val="0C8A91">
                <a:alpha val="5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45707" y="4754535"/>
            <a:ext cx="1782616" cy="1782616"/>
          </a:xfrm>
          <a:prstGeom prst="arc">
            <a:avLst/>
          </a:prstGeom>
          <a:solidFill>
            <a:srgbClr val="053F3D">
              <a:alpha val="0"/>
            </a:srgbClr>
          </a:solidFill>
          <a:ln w="38100">
            <a:solidFill>
              <a:srgbClr val="00C79C">
                <a:alpha val="5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630" y="1253295"/>
            <a:ext cx="10924234" cy="4250853"/>
          </a:xfrm>
          <a:prstGeom prst="roundRect">
            <a:avLst>
              <a:gd name="adj" fmla="val 1720"/>
            </a:avLst>
          </a:prstGeom>
          <a:solidFill>
            <a:srgbClr val="075856">
              <a:alpha val="96000"/>
            </a:srgbClr>
          </a:solidFill>
          <a:ln w="12700">
            <a:solidFill>
              <a:srgbClr val="07585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3861" y="1728659"/>
            <a:ext cx="749613" cy="749613"/>
          </a:xfrm>
          <a:prstGeom prst="ellipse">
            <a:avLst/>
          </a:prstGeom>
          <a:solidFill>
            <a:srgbClr val="09C89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6414" y="1925204"/>
            <a:ext cx="493647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99" b="1" dirty="0">
                <a:solidFill>
                  <a:srgbClr val="063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</a:t>
            </a:r>
            <a:endParaRPr lang="en-US" sz="1799" dirty="0"/>
          </a:p>
        </p:txBody>
      </p:sp>
      <p:sp>
        <p:nvSpPr>
          <p:cNvPr id="9" name="Text 7"/>
          <p:cNvSpPr/>
          <p:nvPr/>
        </p:nvSpPr>
        <p:spPr>
          <a:xfrm>
            <a:off x="1023861" y="2670246"/>
            <a:ext cx="9644408" cy="13255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3999" b="1" dirty="0">
                <a:solidFill>
                  <a:srgbClr val="F6FB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Validating Allopurinol</a:t>
            </a:r>
            <a:endParaRPr lang="en-US" sz="3999" dirty="0"/>
          </a:p>
          <a:p>
            <a:r>
              <a:rPr lang="en-US" sz="3999" b="1" dirty="0">
                <a:solidFill>
                  <a:srgbClr val="F6FB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in a Gout Cohort</a:t>
            </a:r>
            <a:endParaRPr lang="en-US" sz="3999" dirty="0"/>
          </a:p>
        </p:txBody>
      </p:sp>
      <p:sp>
        <p:nvSpPr>
          <p:cNvPr id="10" name="Text 8"/>
          <p:cNvSpPr/>
          <p:nvPr/>
        </p:nvSpPr>
        <p:spPr>
          <a:xfrm>
            <a:off x="1051286" y="4160329"/>
            <a:ext cx="9781532" cy="3473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899" i="1" dirty="0">
                <a:solidFill>
                  <a:srgbClr val="B7D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EHR Data vs. Clinical Note Extraction</a:t>
            </a:r>
            <a:endParaRPr lang="en-US" sz="1899" dirty="0"/>
          </a:p>
        </p:txBody>
      </p:sp>
      <p:sp>
        <p:nvSpPr>
          <p:cNvPr id="11" name="Shape 9"/>
          <p:cNvSpPr/>
          <p:nvPr/>
        </p:nvSpPr>
        <p:spPr>
          <a:xfrm>
            <a:off x="1042144" y="4644835"/>
            <a:ext cx="2971026" cy="0"/>
          </a:xfrm>
          <a:prstGeom prst="line">
            <a:avLst/>
          </a:prstGeom>
          <a:noFill/>
          <a:ln w="27940">
            <a:solidFill>
              <a:srgbClr val="09C89B">
                <a:alpha val="9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286" y="4818526"/>
            <a:ext cx="9598700" cy="329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DCE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Elliott Ou  •  UCSF ACID3  •  Project Milestone 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Allopurinol Treatment in a Gout Cohort  —  5,664 patients, Milestone 1 structured cohort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572000"/>
          </a:xfrm>
          <a:prstGeom prst="roundRect">
            <a:avLst>
              <a:gd name="adj" fmla="val 1800"/>
            </a:avLst>
          </a:prstGeom>
          <a:solidFill>
            <a:srgbClr val="064F5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deck/icon_alertcircle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" y="22722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945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Gout?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0175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of inflammatory arthritis caused by hyperuricemia — too much uric acid in the blood.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88620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uric acid forms sharp urate crystals that deposit in joints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sudden, severe pain, redness, and swelling — most classically in the big toe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chronic, recurrent condition: flares can return without ongoing management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91072" y="1783080"/>
            <a:ext cx="5257800" cy="4572000"/>
          </a:xfrm>
          <a:prstGeom prst="roundRect">
            <a:avLst>
              <a:gd name="adj" fmla="val 1800"/>
            </a:avLst>
          </a:prstGeom>
          <a:solidFill>
            <a:srgbClr val="064F52"/>
          </a:solidFill>
          <a:ln/>
        </p:spPr>
      </p:sp>
      <p:sp>
        <p:nvSpPr>
          <p:cNvPr id="11" name="Shape 8"/>
          <p:cNvSpPr/>
          <p:nvPr/>
        </p:nvSpPr>
        <p:spPr>
          <a:xfrm>
            <a:off x="6611112" y="210312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deck/icon_activity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227228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79792" y="21945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Allopurinol?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30175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xanthine oxidase inhibitor — it lowers uric acid by blocking its production in the body.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656832" y="388620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first-line urate-lowering therapy for chronic gout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daily on an ongoing basis to prevent future flares — not for acute flare pain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drug of interest in this study, evaluated via both structured EHR and clinical notes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08B95"/>
          </a:solidFill>
          <a:ln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56616"/>
            <a:ext cx="6217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900" b="1" i="0">
                <a:solidFill>
                  <a:srgbClr val="073C3A"/>
                </a:solidFill>
                <a:latin typeface="Georgia"/>
              </a:rPr>
              <a:t>Cohort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14400"/>
            <a:ext cx="82296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 i="1">
                <a:solidFill>
                  <a:srgbClr val="5B7674"/>
                </a:solidFill>
                <a:latin typeface="Aptos"/>
              </a:rPr>
              <a:t>Adults with gout in UCSF de-identified OMOP data, classified by structured allopurinol exposure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383280" cy="365760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D3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64792"/>
            <a:ext cx="548640" cy="548640"/>
          </a:xfrm>
          <a:prstGeom prst="ellipse">
            <a:avLst/>
          </a:prstGeom>
          <a:solidFill>
            <a:srgbClr val="008B95"/>
          </a:solidFill>
          <a:ln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83080"/>
            <a:ext cx="228600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1900" b="1" i="0">
                <a:solidFill>
                  <a:srgbClr val="007F86"/>
                </a:solidFill>
                <a:latin typeface="Aptos"/>
              </a:rPr>
              <a:t>Cohort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68880"/>
            <a:ext cx="288036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3B3A"/>
                </a:solidFill>
                <a:latin typeface="Aptos"/>
              </a:defRPr>
            </a:pPr>
            <a:r>
              <a:t>First recorded gout diagnosis</a:t>
            </a:r>
          </a:p>
          <a:p>
            <a:pPr>
              <a:spcAft>
                <a:spcPts val="700"/>
              </a:spcAft>
              <a:defRPr sz="1600">
                <a:solidFill>
                  <a:srgbClr val="1F3B3A"/>
                </a:solidFill>
                <a:latin typeface="Aptos"/>
              </a:defRPr>
            </a:pPr>
            <a:r>
              <a:t>Entry date used as the index date</a:t>
            </a:r>
          </a:p>
          <a:p>
            <a:pPr>
              <a:spcAft>
                <a:spcPts val="700"/>
              </a:spcAft>
              <a:defRPr sz="1600">
                <a:solidFill>
                  <a:srgbClr val="1F3B3A"/>
                </a:solidFill>
                <a:latin typeface="Aptos"/>
              </a:defRPr>
            </a:pPr>
            <a:r>
              <a:t>Previous gout-medication use was not an exclusion criterion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383280" cy="365760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D3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0" y="1764792"/>
            <a:ext cx="548640" cy="548640"/>
          </a:xfrm>
          <a:prstGeom prst="ellipse">
            <a:avLst/>
          </a:prstGeom>
          <a:solidFill>
            <a:srgbClr val="008B95"/>
          </a:solidFill>
          <a:ln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783080"/>
            <a:ext cx="228600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1900" b="1" i="0">
                <a:solidFill>
                  <a:srgbClr val="007F86"/>
                </a:solidFill>
                <a:latin typeface="Aptos"/>
              </a:rPr>
              <a:t>Eligibility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468880"/>
            <a:ext cx="288036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3B3A"/>
                </a:solidFill>
                <a:latin typeface="Aptos"/>
              </a:defRPr>
            </a:pPr>
            <a:r>
              <a:t>Age 18 years or older at index</a:t>
            </a:r>
          </a:p>
          <a:p>
            <a:pPr>
              <a:spcAft>
                <a:spcPts val="700"/>
              </a:spcAft>
              <a:defRPr sz="1600">
                <a:solidFill>
                  <a:srgbClr val="1F3B3A"/>
                </a:solidFill>
                <a:latin typeface="Aptos"/>
              </a:defRPr>
            </a:pPr>
            <a:r>
              <a:t>Recorded diagnosis of gout</a:t>
            </a:r>
          </a:p>
          <a:p>
            <a:pPr>
              <a:spcAft>
                <a:spcPts val="700"/>
              </a:spcAft>
              <a:defRPr sz="1600">
                <a:solidFill>
                  <a:srgbClr val="1F3B3A"/>
                </a:solidFill>
                <a:latin typeface="Aptos"/>
              </a:defRPr>
            </a:pPr>
            <a:r>
              <a:t>Follow-up serum/blood urate used to evaluate treatment outcome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383280" cy="365760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D3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21040" y="1764792"/>
            <a:ext cx="548640" cy="548640"/>
          </a:xfrm>
          <a:prstGeom prst="ellipse">
            <a:avLst/>
          </a:prstGeom>
          <a:solidFill>
            <a:srgbClr val="008B95"/>
          </a:solidFill>
          <a:ln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783080"/>
            <a:ext cx="228600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1900" b="1" i="0">
                <a:solidFill>
                  <a:srgbClr val="007F86"/>
                </a:solidFill>
                <a:latin typeface="Aptos"/>
              </a:rPr>
              <a:t>Treatment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468880"/>
            <a:ext cx="288036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3B3A"/>
                </a:solidFill>
                <a:latin typeface="Aptos"/>
              </a:defRPr>
            </a:pPr>
            <a:r>
              <a:t>Allopurinol-treated: ≥1 recorded allopurinol drug exposure</a:t>
            </a:r>
          </a:p>
          <a:p>
            <a:pPr>
              <a:spcAft>
                <a:spcPts val="700"/>
              </a:spcAft>
              <a:defRPr sz="1600">
                <a:solidFill>
                  <a:srgbClr val="1F3B3A"/>
                </a:solidFill>
                <a:latin typeface="Aptos"/>
              </a:defRPr>
            </a:pPr>
            <a:r>
              <a:t>Comparison group: no recorded allopurinol exposure</a:t>
            </a:r>
          </a:p>
          <a:p>
            <a:pPr>
              <a:spcAft>
                <a:spcPts val="700"/>
              </a:spcAft>
              <a:defRPr sz="1600">
                <a:solidFill>
                  <a:srgbClr val="1F3B3A"/>
                </a:solidFill>
                <a:latin typeface="Aptos"/>
              </a:defRPr>
            </a:pPr>
            <a:r>
              <a:t>Full Milestone 1 cohort: 5,664 patients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deck/icon_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562356"/>
            <a:ext cx="32004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EHR — Table 1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F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characteristics of the full UCSF gout cohort, by allopurinol exposure (n = 5,664)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5349240" cy="475839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2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Characteristic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Full cohort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(n=5,664)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Treated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(n=1,915)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 allopurinol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(n=3,749)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43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Age, years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Mean (SD)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60.03 (14.42)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60.59 (14.63)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59.75 (14.30)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Median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25th–75th pctile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51–71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51–72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51–70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Range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18–90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18–90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19–90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243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Sex, n (%)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Male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4,063 (71.7%)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1,498 (78.2%)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2,565 (68.4%)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Female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1,601 (28.3%)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417 (21.8%)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1,184 (31.6%)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2243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Ethnicity, n (%)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Not Hispanic/Latino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4,925 (87.0%)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1,698 (88.7%)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3,227 (86.1%)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Hispanic or Latino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442 (7.8%)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171 (8.9%)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271 (7.2%)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Unknown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297 (5.2%)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46 (2.4%)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251 (6.7%)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417320"/>
          <a:ext cx="5349240" cy="472821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Characteristic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Full cohort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(n=5,664)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Treated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(n=1,915)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 allopurinol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(n=3,749)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0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Race, n (%)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White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2,550 (45.0%)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852 (44.5%)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1,698 (45.3%)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Asian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1,441 (25.4%)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594 (31.0%)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847 (22.6%)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Black / African American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532 (9.4%)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182 (9.5%)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354 (9.4%)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Native Hawaiian / Pacific Isl.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358 (6.3%)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43 (2.3%)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315 (8.4%)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Other race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609 (10.8%)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201 (10.5%)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408 (10.9%)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Unknown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174 (3.1%)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43 (2.3%)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115 (3.1%)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30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Baseline clinical, n (%)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Chronic gout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957 (16.9%)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677 (35.4%)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280 (7.5%)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Type 2 diabetes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1,832 (32.3%)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793 (41.4%)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1,039 (27.7%)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Chronic kidney disease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2,807 (49.6%)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1,153 (60.2%)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B2D"/>
                          </a:solidFill>
                        </a:rPr>
                        <a:t>1,654 (44.1%)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640080" y="623620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full Milestone 1 cohort (5,664 patients). The note-based comparison on the Results slide uses the subset with usable clinical notes (n = 4,985), within which structured EHR flags 1,849 patients as treated.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deck/icon_filetex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562356"/>
            <a:ext cx="32004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2: Clinical Notes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F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notes to concept extraction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3456432" cy="4480560"/>
          </a:xfrm>
          <a:prstGeom prst="roundRect">
            <a:avLst>
              <a:gd name="adj" fmla="val 2116"/>
            </a:avLst>
          </a:prstGeom>
          <a:solidFill>
            <a:srgbClr val="F2F8F8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pic>
        <p:nvPicPr>
          <p:cNvPr id="9" name="Image 1" descr="/home/claude/deck/icon_link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89280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14400" y="25603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Match in Athena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3291840"/>
            <a:ext cx="29077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 extracted in Athena for the structured gout cohort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matched to patients by person_id, linking each note back to its structured cohort record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4105656" y="35661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4370832" y="1600200"/>
            <a:ext cx="3456432" cy="4480560"/>
          </a:xfrm>
          <a:prstGeom prst="roundRect">
            <a:avLst>
              <a:gd name="adj" fmla="val 2116"/>
            </a:avLst>
          </a:prstGeom>
          <a:solidFill>
            <a:srgbClr val="F2F8F8"/>
          </a:solidFill>
          <a:ln/>
        </p:spPr>
      </p:sp>
      <p:sp>
        <p:nvSpPr>
          <p:cNvPr id="14" name="Shape 10"/>
          <p:cNvSpPr/>
          <p:nvPr/>
        </p:nvSpPr>
        <p:spPr>
          <a:xfrm>
            <a:off x="4645152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6451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pic>
        <p:nvPicPr>
          <p:cNvPr id="16" name="Image 2" descr="/home/claude/deck/icon_barchart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4" y="189280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45152" y="25603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Demographics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645152" y="3291840"/>
            <a:ext cx="29077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race, and ethnicity pulled for the note-analysis sample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treated vs. non-treated demographics across extraction methods (Table 1)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836408" y="35661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8101584" y="1600200"/>
            <a:ext cx="3456432" cy="4480560"/>
          </a:xfrm>
          <a:prstGeom prst="roundRect">
            <a:avLst>
              <a:gd name="adj" fmla="val 2116"/>
            </a:avLst>
          </a:prstGeom>
          <a:solidFill>
            <a:srgbClr val="F2F8F8"/>
          </a:solidFill>
          <a:ln/>
        </p:spPr>
      </p:sp>
      <p:sp>
        <p:nvSpPr>
          <p:cNvPr id="21" name="Shape 16"/>
          <p:cNvSpPr/>
          <p:nvPr/>
        </p:nvSpPr>
        <p:spPr>
          <a:xfrm>
            <a:off x="8375904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375904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pic>
        <p:nvPicPr>
          <p:cNvPr id="23" name="Image 3" descr="/home/claude/deck/icon_cpu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0776" y="189280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75904" y="25603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Extraction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75904" y="3291840"/>
            <a:ext cx="29077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baseline plus 3 LLMs: Mistral, Llama, Qwen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gout, urate, and allopurinol mentions using a shared classification definition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deck/icon_bar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562356"/>
            <a:ext cx="32004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Results — Table 1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F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demographics: note-sample vs. allopurinol-treated by extraction method (n = 4,985)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507492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Characteristic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Qualified / sample cohort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Pattern treated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Mistral treated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Llama treated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Qwen treated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2B2D"/>
                          </a:solidFill>
                        </a:rPr>
                        <a:t>N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2B2D"/>
                          </a:solidFill>
                        </a:rPr>
                        <a:t>4,985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2B2D"/>
                          </a:solidFill>
                        </a:rPr>
                        <a:t>1,285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2B2D"/>
                          </a:solidFill>
                        </a:rPr>
                        <a:t>968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2B2D"/>
                          </a:solidFill>
                        </a:rPr>
                        <a:t>1,289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2B2D"/>
                          </a:solidFill>
                        </a:rPr>
                        <a:t>1,138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Age, mean (SD)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60.3 (14.5)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60.4 (15.0)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60.2 (14.8)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60.5 (15.0)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60.9 (14.7)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Age, median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62.0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62.0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62.0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62.0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63.0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Sex: Female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1,402 (28.1%)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280 (21.8%)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214 (22.1%)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300 (23.3%)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273 (24.0%)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Sex: Male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3,583 (71.9%)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1,005 (78.2%)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754 (77.9%)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989 (76.7%)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865 (76.0%)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Race: Asian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1,357 (27.2%)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388 (30.2%)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271 (28.0%)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383 (29.7%)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309 (27.2%)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Race: Black / African American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470 (9.4%)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109 (8.5%)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75 (7.7%)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112 (8.7%)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110 (9.7%)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Race: Native Hawaiian / Pacific Isl.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260 (5.2%)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39 (3.0%)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30 (3.1%)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41 (3.2%)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34 (3.0%)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Race: Other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552 (11.1%)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131 (10.2%)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98 (10.1%)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126 (9.8%)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117 (10.3%)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Race: Unknown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131 (2.6%)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41 (3.2%)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31 (3.2%)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43 (3.3%)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42 (3.7%)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Race: White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2,199 (44.1%)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574 (44.7%)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462 (47.7%)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580 (45.0%)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523 (46.0%)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Ethnicity: Hispanic / Latino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410 (8.2%)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93 (7.2%)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74 (7.6%)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95 (7.4%)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87 (7.6%)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Ethnicity: Not Hispanic / Latino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4,365 (87.6%)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1,135 (88.3%)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846 (87.4%)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1,131 (87.7%)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994 (87.3%)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Ethnicity: Unknown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210 (4.2%)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57 (4.4%)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48 (5.0%)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63 (4.9%)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B2D"/>
                          </a:solidFill>
                        </a:rPr>
                        <a:t>57 (5.0%)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deck/icon_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562356"/>
            <a:ext cx="32004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Results — Confusion Matrix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F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Allopurinol identification vs. structured EHR reference (n = 4,985)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470354"/>
              </p:ext>
            </p:extLst>
          </p:nvPr>
        </p:nvGraphicFramePr>
        <p:xfrm>
          <a:off x="640080" y="1554480"/>
          <a:ext cx="10881359" cy="2331720"/>
        </p:xfrm>
        <a:graphic>
          <a:graphicData uri="http://schemas.openxmlformats.org/drawingml/2006/table">
            <a:tbl>
              <a:tblPr/>
              <a:tblGrid>
                <a:gridCol w="2524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91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91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9131">
                  <a:extLst>
                    <a:ext uri="{9D8B030D-6E8A-4147-A177-3AD203B41FA5}">
                      <a16:colId xmlns:a16="http://schemas.microsoft.com/office/drawing/2014/main" val="2004191060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Sensitivity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Specificity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Pattern matching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910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939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375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2,761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1440E"/>
                          </a:solidFill>
                        </a:rPr>
                        <a:t>49.2%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88.0%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/>
                        <a:t>73.6%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Mistral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731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1,118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237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2,899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1440E"/>
                          </a:solidFill>
                        </a:rPr>
                        <a:t>39.5%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92.4%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/>
                        <a:t>72.8%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Llama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891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958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398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2,738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1440E"/>
                          </a:solidFill>
                        </a:rPr>
                        <a:t>48.2%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87.3%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/>
                        <a:t>72.8%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Qwen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835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1,014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303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2,833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1440E"/>
                          </a:solidFill>
                        </a:rPr>
                        <a:t>45.2%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B2D"/>
                          </a:solidFill>
                        </a:rPr>
                        <a:t>90.3%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/>
                        <a:t>73.6%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4251960"/>
            <a:ext cx="10908792" cy="1828800"/>
          </a:xfrm>
          <a:prstGeom prst="roundRect">
            <a:avLst>
              <a:gd name="adj" fmla="val 4000"/>
            </a:avLst>
          </a:prstGeom>
          <a:solidFill>
            <a:srgbClr val="FCEFE8"/>
          </a:solidFill>
          <a:ln/>
        </p:spPr>
      </p:sp>
      <p:pic>
        <p:nvPicPr>
          <p:cNvPr id="8" name="Image 1" descr="/home/claude/deck/icon_trenddown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07992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600200" y="4434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ranged only 39.5–49.2% </a:t>
            </a:r>
            <a:r>
              <a:rPr lang="en-US" sz="17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methods.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1600200" y="4965192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half of structured-treated patients had no allopurinol mention in their sampled notes, while specificity stayed high (87–92%) — a positive mention was reliable, but a missing one was not strong evidence of no treatment.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EHR data vs. clinical notes for allopurinol treatment status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064F5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5146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deck/icon_database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" y="26837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35000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EHR was the more reliable source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77063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determining whether a patient received allopurinol, structured drug-exposure data outperformed every note-based extraction method (sensitivity capped at 49.2%). Clinical notes remained useful for treatment context.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794760"/>
            <a:ext cx="10908792" cy="1965960"/>
          </a:xfrm>
          <a:prstGeom prst="roundRect">
            <a:avLst>
              <a:gd name="adj" fmla="val 3721"/>
            </a:avLst>
          </a:prstGeom>
          <a:solidFill>
            <a:srgbClr val="5A2A12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4114800"/>
            <a:ext cx="685800" cy="68580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1" name="Image 1" descr="/home/claude/deck/icon_alerttriangle_5A2A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" y="42839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4069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conclusion with caution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4507992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B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small subset of available notes was analyzed — 13,481 of 135,573 candidate notes, capped at 3 Progress/A&amp;P notes per patient. A full-note extraction may recover more allopurinol mentions and narrow the gap with structured EHR.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1724</Words>
  <Application>Microsoft Office PowerPoint</Application>
  <PresentationFormat>Custom</PresentationFormat>
  <Paragraphs>300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Elliot Ou</cp:lastModifiedBy>
  <cp:revision>2</cp:revision>
  <dcterms:created xsi:type="dcterms:W3CDTF">2026-09-09T05:36:27Z</dcterms:created>
  <dcterms:modified xsi:type="dcterms:W3CDTF">2026-09-09T07:20:32Z</dcterms:modified>
</cp:coreProperties>
</file>